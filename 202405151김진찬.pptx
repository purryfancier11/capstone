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6630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jpe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84073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캐주얼 탈출 게임 프로젝트</a:t>
            </a:r>
            <a:endParaRPr lang="ko-KR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3714849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Unreal Engine 5.7 기반 3D 캐주얼 탈출 게임 개발 프로젝트 발표</a:t>
            </a:r>
            <a:endParaRPr lang="ko-KR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91394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프로젝트 개요</a:t>
            </a:r>
            <a:endParaRPr lang="ko-KR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2876252"/>
            <a:ext cx="6943551" cy="905371"/>
          </a:xfrm>
          <a:prstGeom prst="rect">
            <a:avLst/>
          </a:prstGeom>
          <a:noFill/>
          <a:ln/>
        </p:spPr>
        <p:txBody>
          <a:bodyPr wrap="square" lIns="0" tIns="56706" rIns="0" bIns="0" rtlCol="0" anchor="t">
            <a:normAutofit/>
          </a:bodyPr>
          <a:lstStyle/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ko-KR" alt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Unreal Engine 5.7 기반 3D 공포 탈출 게임</a:t>
            </a:r>
            <a:endParaRPr lang="ko-KR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ko-KR" alt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플레이어와 가이드 캐릭터를 활용한 게임 진행</a:t>
            </a:r>
            <a:endParaRPr lang="ko-KR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ko-KR" alt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맵 탐색, 오브젝트 상호작용, 몬스터 추격이 핵심</a:t>
            </a:r>
            <a:endParaRPr lang="ko-KR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ko-KR" alt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현재 기본 맵 및 핵심 시스템 구현 진행 중</a:t>
            </a:r>
            <a:endParaRPr lang="ko-KR" sz="1100" dirty="0"/>
          </a:p>
        </p:txBody>
      </p:sp>
      <p:sp>
        <p:nvSpPr>
          <p:cNvPr id="4" name="Shape 2"/>
          <p:cNvSpPr/>
          <p:nvPr/>
        </p:nvSpPr>
        <p:spPr>
          <a:xfrm>
            <a:off x="661475" y="3901182"/>
            <a:ext cx="6943551" cy="659011"/>
          </a:xfrm>
          <a:prstGeom prst="roundRect">
            <a:avLst>
              <a:gd name="adj" fmla="val 9035"/>
            </a:avLst>
          </a:prstGeom>
          <a:solidFill>
            <a:srgbClr val="E1E1E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156" y="4064893"/>
            <a:ext cx="177200" cy="1416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2037" y="4032250"/>
            <a:ext cx="6341309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현재 개발 단계</a:t>
            </a:r>
            <a:endParaRPr lang="ko-KR" sz="11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ko-KR" alt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기본 플레이 환경 구축 완료 → 실제 게임플레이 기능 연결 단계</a:t>
            </a:r>
            <a:endParaRPr lang="ko-KR" sz="1100" dirty="0"/>
          </a:p>
        </p:txBody>
      </p:sp>
      <p:sp>
        <p:nvSpPr>
          <p:cNvPr id="7" name="Text 4"/>
          <p:cNvSpPr/>
          <p:nvPr/>
        </p:nvSpPr>
        <p:spPr>
          <a:xfrm>
            <a:off x="7957244" y="1700113"/>
            <a:ext cx="357922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지금까지의 작업 결과</a:t>
            </a:r>
            <a:endParaRPr lang="ko-KR" sz="13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3594" y="2163862"/>
            <a:ext cx="1726561" cy="1726605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3559" y="2163862"/>
            <a:ext cx="1726561" cy="172660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3594" y="4003873"/>
            <a:ext cx="1726561" cy="1726605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3559" y="4003873"/>
            <a:ext cx="1726561" cy="1726605"/>
          </a:xfrm>
          <a:prstGeom prst="rect">
            <a:avLst/>
          </a:prstGeom>
        </p:spPr>
      </p:pic>
      <p:sp>
        <p:nvSpPr>
          <p:cNvPr id="18" name="Shape 2">
            <a:extLst>
              <a:ext uri="{FF2B5EF4-FFF2-40B4-BE49-F238E27FC236}">
                <a16:creationId xmlns:a16="http://schemas.microsoft.com/office/drawing/2014/main" id="{F03F802A-5E20-417E-AD20-31E8F21EC17F}"/>
              </a:ext>
            </a:extLst>
          </p:cNvPr>
          <p:cNvSpPr/>
          <p:nvPr/>
        </p:nvSpPr>
        <p:spPr>
          <a:xfrm>
            <a:off x="11043138" y="6198989"/>
            <a:ext cx="1148862" cy="659011"/>
          </a:xfrm>
          <a:prstGeom prst="roundRect">
            <a:avLst>
              <a:gd name="adj" fmla="val 9035"/>
            </a:avLst>
          </a:prstGeom>
          <a:solidFill>
            <a:schemeClr val="bg1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8599"/>
            <a:ext cx="5225423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게임 맵 제작 현황</a:t>
            </a:r>
            <a:endParaRPr lang="ko-KR" sz="3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08509"/>
            <a:ext cx="5225423" cy="264933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1147" y="1118989"/>
            <a:ext cx="5225423" cy="2212975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61475" y="4407098"/>
            <a:ext cx="3519399" cy="1907381"/>
          </a:xfrm>
          <a:prstGeom prst="roundRect">
            <a:avLst>
              <a:gd name="adj" fmla="val 377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839072" y="4584700"/>
            <a:ext cx="513841" cy="513854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0356" y="4725988"/>
            <a:ext cx="231174" cy="2311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39072" y="5253732"/>
            <a:ext cx="3164205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기본 구조</a:t>
            </a:r>
            <a:endParaRPr lang="ko-KR" sz="1650" dirty="0"/>
          </a:p>
        </p:txBody>
      </p:sp>
      <p:sp>
        <p:nvSpPr>
          <p:cNvPr id="9" name="Text 4"/>
          <p:cNvSpPr/>
          <p:nvPr/>
        </p:nvSpPr>
        <p:spPr>
          <a:xfrm>
            <a:off x="839072" y="5614392"/>
            <a:ext cx="3164205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실내형 스테이지 기본 구조 제작 및 방·이동 공간 구성 완료</a:t>
            </a:r>
            <a:endParaRPr lang="ko-KR" sz="1300" dirty="0"/>
          </a:p>
        </p:txBody>
      </p:sp>
      <p:sp>
        <p:nvSpPr>
          <p:cNvPr id="10" name="Shape 5"/>
          <p:cNvSpPr/>
          <p:nvPr/>
        </p:nvSpPr>
        <p:spPr>
          <a:xfrm>
            <a:off x="4336049" y="4407098"/>
            <a:ext cx="3519499" cy="1907381"/>
          </a:xfrm>
          <a:prstGeom prst="roundRect">
            <a:avLst>
              <a:gd name="adj" fmla="val 377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4513646" y="4584700"/>
            <a:ext cx="513841" cy="513854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54930" y="4725988"/>
            <a:ext cx="231174" cy="2311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513646" y="5253732"/>
            <a:ext cx="3164304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환경 오브젝트</a:t>
            </a:r>
            <a:endParaRPr lang="ko-KR" sz="1650" dirty="0"/>
          </a:p>
        </p:txBody>
      </p:sp>
      <p:sp>
        <p:nvSpPr>
          <p:cNvPr id="14" name="Text 8"/>
          <p:cNvSpPr/>
          <p:nvPr/>
        </p:nvSpPr>
        <p:spPr>
          <a:xfrm>
            <a:off x="4513646" y="5614392"/>
            <a:ext cx="3164304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냉장고, 책장, 책상, 조명, 문 등 가구 및 환경 오브젝트 배치 완료</a:t>
            </a:r>
            <a:endParaRPr lang="ko-KR" sz="1300" dirty="0"/>
          </a:p>
        </p:txBody>
      </p:sp>
      <p:sp>
        <p:nvSpPr>
          <p:cNvPr id="15" name="Shape 9"/>
          <p:cNvSpPr/>
          <p:nvPr/>
        </p:nvSpPr>
        <p:spPr>
          <a:xfrm>
            <a:off x="8010721" y="4407098"/>
            <a:ext cx="3519499" cy="1907381"/>
          </a:xfrm>
          <a:prstGeom prst="roundRect">
            <a:avLst>
              <a:gd name="adj" fmla="val 377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8188319" y="4584700"/>
            <a:ext cx="513841" cy="513854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329603" y="4725988"/>
            <a:ext cx="231174" cy="2311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188319" y="5253732"/>
            <a:ext cx="3164304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이동 공간</a:t>
            </a:r>
            <a:endParaRPr lang="ko-KR" sz="1650" dirty="0"/>
          </a:p>
        </p:txBody>
      </p:sp>
      <p:sp>
        <p:nvSpPr>
          <p:cNvPr id="19" name="Text 12"/>
          <p:cNvSpPr/>
          <p:nvPr/>
        </p:nvSpPr>
        <p:spPr>
          <a:xfrm>
            <a:off x="8188319" y="5614392"/>
            <a:ext cx="3164304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ko-KR" alt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플레이어·가이드 캐릭터 이동 공간 확보 및 NavMesh 기반 AI 이동 영역 구성</a:t>
            </a:r>
            <a:endParaRPr lang="ko-KR" sz="1300" dirty="0"/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434DFD3E-88AD-42D2-B6A6-B6D7437DF141}"/>
              </a:ext>
            </a:extLst>
          </p:cNvPr>
          <p:cNvSpPr/>
          <p:nvPr/>
        </p:nvSpPr>
        <p:spPr>
          <a:xfrm>
            <a:off x="11043138" y="6198989"/>
            <a:ext cx="1148862" cy="659011"/>
          </a:xfrm>
          <a:prstGeom prst="roundRect">
            <a:avLst>
              <a:gd name="adj" fmla="val 9035"/>
            </a:avLst>
          </a:prstGeom>
          <a:solidFill>
            <a:schemeClr val="bg1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1721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가이드 캐릭터 시스템</a:t>
            </a:r>
            <a:endParaRPr lang="ko-KR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185888"/>
            <a:ext cx="2005756" cy="287139"/>
          </a:xfrm>
          <a:prstGeom prst="roundRect">
            <a:avLst>
              <a:gd name="adj" fmla="val 22118"/>
            </a:avLst>
          </a:prstGeom>
          <a:solidFill>
            <a:srgbClr val="E1E1EA"/>
          </a:solidFill>
          <a:ln/>
        </p:spPr>
      </p:sp>
      <p:sp>
        <p:nvSpPr>
          <p:cNvPr id="4" name="Text 2"/>
          <p:cNvSpPr/>
          <p:nvPr/>
        </p:nvSpPr>
        <p:spPr>
          <a:xfrm>
            <a:off x="774879" y="2242542"/>
            <a:ext cx="238853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ko-KR" alt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구현 완료 / 동작 테스트 완료</a:t>
            </a:r>
            <a:endParaRPr lang="ko-KR" sz="1150" dirty="0"/>
          </a:p>
        </p:txBody>
      </p:sp>
      <p:sp>
        <p:nvSpPr>
          <p:cNvPr id="5" name="Text 3"/>
          <p:cNvSpPr/>
          <p:nvPr/>
        </p:nvSpPr>
        <p:spPr>
          <a:xfrm>
            <a:off x="661475" y="2548632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구현된 기능</a:t>
            </a:r>
            <a:endParaRPr lang="ko-KR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3127375"/>
            <a:ext cx="10868745" cy="2513409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플레이어 캐릭터 구현</a:t>
            </a:r>
            <a:endParaRPr lang="ko-KR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가이드 캐릭터 맵 배치</a:t>
            </a:r>
            <a:endParaRPr lang="ko-KR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플레이어 </a:t>
            </a:r>
            <a:r>
              <a:rPr lang="ko-KR" alt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↔</a:t>
            </a: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가이드 캐릭터 조작 전환</a:t>
            </a:r>
            <a:endParaRPr lang="ko-KR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가이드 캐릭터 기본 이동</a:t>
            </a:r>
            <a:endParaRPr lang="ko-KR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걷기 및 달리기 애니메이션 적용</a:t>
            </a:r>
            <a:endParaRPr lang="ko-KR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이동을 위한 NavMesh 연결</a:t>
            </a:r>
            <a:endParaRPr lang="ko-KR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이동 이상 상황 복구 기능 테스트</a:t>
            </a:r>
            <a:endParaRPr lang="ko-KR" sz="145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9CEE2660-F3B4-4FD9-BDC5-7FC127CAF6FC}"/>
              </a:ext>
            </a:extLst>
          </p:cNvPr>
          <p:cNvSpPr/>
          <p:nvPr/>
        </p:nvSpPr>
        <p:spPr>
          <a:xfrm>
            <a:off x="11043138" y="6198989"/>
            <a:ext cx="1148862" cy="659011"/>
          </a:xfrm>
          <a:prstGeom prst="roundRect">
            <a:avLst>
              <a:gd name="adj" fmla="val 9035"/>
            </a:avLst>
          </a:prstGeom>
          <a:solidFill>
            <a:schemeClr val="bg1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4086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환경 상호작용 시스템</a:t>
            </a:r>
            <a:endParaRPr lang="ko-KR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627610"/>
            <a:ext cx="996925" cy="287139"/>
          </a:xfrm>
          <a:prstGeom prst="roundRect">
            <a:avLst>
              <a:gd name="adj" fmla="val 22118"/>
            </a:avLst>
          </a:prstGeom>
          <a:solidFill>
            <a:srgbClr val="E1E1EA"/>
          </a:solidFill>
          <a:ln/>
        </p:spPr>
      </p:sp>
      <p:sp>
        <p:nvSpPr>
          <p:cNvPr id="4" name="Text 2"/>
          <p:cNvSpPr/>
          <p:nvPr/>
        </p:nvSpPr>
        <p:spPr>
          <a:xfrm>
            <a:off x="774879" y="2684264"/>
            <a:ext cx="137970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ko-KR" alt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현재 구현 중</a:t>
            </a:r>
            <a:endParaRPr lang="ko-KR" sz="1150" dirty="0"/>
          </a:p>
        </p:txBody>
      </p:sp>
      <p:sp>
        <p:nvSpPr>
          <p:cNvPr id="5" name="Text 3"/>
          <p:cNvSpPr/>
          <p:nvPr/>
        </p:nvSpPr>
        <p:spPr>
          <a:xfrm>
            <a:off x="661475" y="2990354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구현된 기능</a:t>
            </a:r>
            <a:endParaRPr lang="ko-KR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3474641"/>
            <a:ext cx="5203794" cy="1776413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플레이어 시점 기반 상호작용</a:t>
            </a:r>
            <a:endParaRPr lang="ko-KR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 키를 통한 오브젝트 상호작용</a:t>
            </a:r>
            <a:endParaRPr lang="ko-KR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냉장고 문 열기 / 닫기 구현</a:t>
            </a:r>
            <a:endParaRPr lang="ko-KR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상단 문과 하단 문 개별 작동</a:t>
            </a:r>
            <a:endParaRPr lang="ko-KR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동일한 방식을 여러 오브젝트에 재사용할 수 있도록 구조화</a:t>
            </a:r>
            <a:endParaRPr lang="ko-KR" sz="1450" dirty="0"/>
          </a:p>
        </p:txBody>
      </p:sp>
      <p:sp>
        <p:nvSpPr>
          <p:cNvPr id="7" name="Shape 5"/>
          <p:cNvSpPr/>
          <p:nvPr/>
        </p:nvSpPr>
        <p:spPr>
          <a:xfrm>
            <a:off x="6332776" y="2627610"/>
            <a:ext cx="820419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180" y="2684264"/>
            <a:ext cx="120319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ko-KR" altLang="en-US" sz="11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적용 예정</a:t>
            </a:r>
            <a:endParaRPr lang="ko-KR" sz="1150" dirty="0"/>
          </a:p>
        </p:txBody>
      </p:sp>
      <p:sp>
        <p:nvSpPr>
          <p:cNvPr id="9" name="Text 7"/>
          <p:cNvSpPr/>
          <p:nvPr/>
        </p:nvSpPr>
        <p:spPr>
          <a:xfrm>
            <a:off x="6332776" y="2990354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예정 오브젝트</a:t>
            </a:r>
            <a:endParaRPr lang="ko-KR" sz="1850" dirty="0"/>
          </a:p>
        </p:txBody>
      </p:sp>
      <p:sp>
        <p:nvSpPr>
          <p:cNvPr id="10" name="Text 8"/>
          <p:cNvSpPr/>
          <p:nvPr/>
        </p:nvSpPr>
        <p:spPr>
          <a:xfrm>
            <a:off x="6332776" y="3474641"/>
            <a:ext cx="5203794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일반 문</a:t>
            </a:r>
            <a:endParaRPr lang="ko-KR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서랍</a:t>
            </a:r>
            <a:endParaRPr lang="ko-KR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수납장</a:t>
            </a:r>
            <a:endParaRPr lang="ko-KR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퍼즐 오브젝트</a:t>
            </a:r>
            <a:endParaRPr lang="ko-KR" sz="1450" dirty="0"/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8371B98D-B331-4C34-8E75-4A283FD42E7F}"/>
              </a:ext>
            </a:extLst>
          </p:cNvPr>
          <p:cNvSpPr/>
          <p:nvPr/>
        </p:nvSpPr>
        <p:spPr>
          <a:xfrm>
            <a:off x="11043138" y="6198989"/>
            <a:ext cx="1148862" cy="659011"/>
          </a:xfrm>
          <a:prstGeom prst="roundRect">
            <a:avLst>
              <a:gd name="adj" fmla="val 9035"/>
            </a:avLst>
          </a:prstGeom>
          <a:solidFill>
            <a:schemeClr val="bg1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9874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몬스터 추격 AI 테스트</a:t>
            </a:r>
            <a:endParaRPr lang="ko-KR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985492"/>
            <a:ext cx="1274929" cy="287139"/>
          </a:xfrm>
          <a:prstGeom prst="roundRect">
            <a:avLst>
              <a:gd name="adj" fmla="val 22118"/>
            </a:avLst>
          </a:prstGeom>
          <a:solidFill>
            <a:srgbClr val="E1E1EA"/>
          </a:solidFill>
          <a:ln/>
        </p:spPr>
      </p:sp>
      <p:sp>
        <p:nvSpPr>
          <p:cNvPr id="4" name="Text 2"/>
          <p:cNvSpPr/>
          <p:nvPr/>
        </p:nvSpPr>
        <p:spPr>
          <a:xfrm>
            <a:off x="774879" y="3042146"/>
            <a:ext cx="165770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ko-KR" alt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현재 테스트 완료</a:t>
            </a:r>
            <a:endParaRPr lang="ko-KR" sz="1150" dirty="0"/>
          </a:p>
        </p:txBody>
      </p:sp>
      <p:sp>
        <p:nvSpPr>
          <p:cNvPr id="5" name="Text 3"/>
          <p:cNvSpPr/>
          <p:nvPr/>
        </p:nvSpPr>
        <p:spPr>
          <a:xfrm>
            <a:off x="661475" y="3485257"/>
            <a:ext cx="5203794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몬스터 캐릭터 맵 배치</a:t>
            </a:r>
            <a:endParaRPr lang="ko-KR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플레이어 인식</a:t>
            </a:r>
            <a:endParaRPr lang="ko-KR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플레이어 위치를 향한 추격 테스트</a:t>
            </a:r>
            <a:endParaRPr lang="ko-KR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NavMesh를 이용한 이동 확인</a:t>
            </a:r>
            <a:endParaRPr lang="ko-KR" sz="1450" dirty="0"/>
          </a:p>
        </p:txBody>
      </p:sp>
      <p:sp>
        <p:nvSpPr>
          <p:cNvPr id="6" name="Shape 4"/>
          <p:cNvSpPr/>
          <p:nvPr/>
        </p:nvSpPr>
        <p:spPr>
          <a:xfrm>
            <a:off x="6332776" y="2985492"/>
            <a:ext cx="1135927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1B1B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46180" y="3042146"/>
            <a:ext cx="151870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ko-KR" altLang="en-US" sz="11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다음 구현 예정</a:t>
            </a:r>
            <a:endParaRPr lang="ko-KR" sz="1150" dirty="0"/>
          </a:p>
        </p:txBody>
      </p:sp>
      <p:sp>
        <p:nvSpPr>
          <p:cNvPr id="8" name="Text 6"/>
          <p:cNvSpPr/>
          <p:nvPr/>
        </p:nvSpPr>
        <p:spPr>
          <a:xfrm>
            <a:off x="6332776" y="3485257"/>
            <a:ext cx="5203794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추격 애니메이션 추가 및 보정</a:t>
            </a:r>
            <a:endParaRPr lang="ko-KR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특정 구역 순찰</a:t>
            </a:r>
            <a:endParaRPr lang="ko-KR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플레이어 발견 / 추격 상태 전환</a:t>
            </a:r>
            <a:endParaRPr lang="ko-KR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추격 중 발생하는 이동 버그 수정</a:t>
            </a:r>
            <a:endParaRPr lang="ko-KR" sz="1450" dirty="0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95421F48-A1C6-4B80-BD33-F5D933DB8766}"/>
              </a:ext>
            </a:extLst>
          </p:cNvPr>
          <p:cNvSpPr/>
          <p:nvPr/>
        </p:nvSpPr>
        <p:spPr>
          <a:xfrm>
            <a:off x="11043138" y="6198989"/>
            <a:ext cx="1148862" cy="659011"/>
          </a:xfrm>
          <a:prstGeom prst="roundRect">
            <a:avLst>
              <a:gd name="adj" fmla="val 9035"/>
            </a:avLst>
          </a:prstGeom>
          <a:solidFill>
            <a:schemeClr val="bg1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3838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추가 구현이 필요한 시스템</a:t>
            </a:r>
            <a:endParaRPr lang="ko-KR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507059"/>
            <a:ext cx="3496877" cy="281245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68183" y="2670969"/>
            <a:ext cx="283461" cy="28346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75881" y="3288506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UI — 미구현</a:t>
            </a:r>
            <a:endParaRPr lang="ko-KR" sz="1850" dirty="0"/>
          </a:p>
        </p:txBody>
      </p:sp>
      <p:sp>
        <p:nvSpPr>
          <p:cNvPr id="6" name="Text 2"/>
          <p:cNvSpPr/>
          <p:nvPr/>
        </p:nvSpPr>
        <p:spPr>
          <a:xfrm>
            <a:off x="875881" y="3697188"/>
            <a:ext cx="3068065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가방 / 인벤토리</a:t>
            </a:r>
            <a:endParaRPr lang="ko-KR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아이템 확인 화면</a:t>
            </a:r>
            <a:endParaRPr lang="ko-KR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상호작용 안내 UI</a:t>
            </a:r>
            <a:endParaRPr lang="ko-KR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게임 메뉴 및 일시정지 화면</a:t>
            </a:r>
            <a:endParaRPr lang="ko-KR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2507059"/>
            <a:ext cx="3496877" cy="2812455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54067" y="2670969"/>
            <a:ext cx="283461" cy="283468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4561766" y="3288506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이펙트 — 미구현</a:t>
            </a:r>
            <a:endParaRPr lang="ko-KR" sz="1850" dirty="0"/>
          </a:p>
        </p:txBody>
      </p:sp>
      <p:sp>
        <p:nvSpPr>
          <p:cNvPr id="10" name="Text 4"/>
          <p:cNvSpPr/>
          <p:nvPr/>
        </p:nvSpPr>
        <p:spPr>
          <a:xfrm>
            <a:off x="4561766" y="3697188"/>
            <a:ext cx="3068065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상호작용 시 시각 효과</a:t>
            </a:r>
            <a:endParaRPr lang="ko-KR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몬스터 등장 / 추격 효과</a:t>
            </a:r>
            <a:endParaRPr lang="ko-KR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화면 글리치 및 공포 연출</a:t>
            </a:r>
            <a:endParaRPr lang="ko-KR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네온 및 디지털 효과</a:t>
            </a:r>
            <a:endParaRPr lang="ko-KR" sz="14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33244" y="2507059"/>
            <a:ext cx="3496877" cy="2812455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39952" y="2670969"/>
            <a:ext cx="283461" cy="283468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8247650" y="3288506"/>
            <a:ext cx="306806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게임플레이 — 미구현</a:t>
            </a:r>
            <a:endParaRPr lang="ko-KR" sz="1850" dirty="0"/>
          </a:p>
        </p:txBody>
      </p:sp>
      <p:sp>
        <p:nvSpPr>
          <p:cNvPr id="14" name="Text 6"/>
          <p:cNvSpPr/>
          <p:nvPr/>
        </p:nvSpPr>
        <p:spPr>
          <a:xfrm>
            <a:off x="8247650" y="3697188"/>
            <a:ext cx="3068065" cy="103941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퍼즐</a:t>
            </a:r>
            <a:endParaRPr lang="ko-KR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아이템 사용</a:t>
            </a:r>
            <a:endParaRPr lang="ko-KR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탈출 조건</a:t>
            </a:r>
            <a:endParaRPr lang="ko-KR" sz="1450" dirty="0"/>
          </a:p>
        </p:txBody>
      </p:sp>
      <p:sp>
        <p:nvSpPr>
          <p:cNvPr id="15" name="Shape 2">
            <a:extLst>
              <a:ext uri="{FF2B5EF4-FFF2-40B4-BE49-F238E27FC236}">
                <a16:creationId xmlns:a16="http://schemas.microsoft.com/office/drawing/2014/main" id="{BB1A3402-1D95-4718-837F-F5DDA583260B}"/>
              </a:ext>
            </a:extLst>
          </p:cNvPr>
          <p:cNvSpPr/>
          <p:nvPr/>
        </p:nvSpPr>
        <p:spPr>
          <a:xfrm>
            <a:off x="11043138" y="6198989"/>
            <a:ext cx="1148862" cy="659011"/>
          </a:xfrm>
          <a:prstGeom prst="roundRect">
            <a:avLst>
              <a:gd name="adj" fmla="val 9035"/>
            </a:avLst>
          </a:prstGeom>
          <a:solidFill>
            <a:schemeClr val="bg1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6933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단기 개발 계획</a:t>
            </a:r>
            <a:endParaRPr lang="ko-KR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438003"/>
            <a:ext cx="3622882" cy="7560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482" y="3383062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우선순위 1 — 몬스터 AI</a:t>
            </a:r>
            <a:endParaRPr lang="ko-KR" sz="1850" dirty="0"/>
          </a:p>
        </p:txBody>
      </p:sp>
      <p:sp>
        <p:nvSpPr>
          <p:cNvPr id="5" name="Text 2"/>
          <p:cNvSpPr/>
          <p:nvPr/>
        </p:nvSpPr>
        <p:spPr>
          <a:xfrm>
            <a:off x="850482" y="3791744"/>
            <a:ext cx="3244868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순찰 경로 구현</a:t>
            </a:r>
            <a:endParaRPr lang="ko-KR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플레이어 발견 / 추격 / 해제</a:t>
            </a:r>
            <a:endParaRPr lang="ko-KR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애니메이션 연결</a:t>
            </a:r>
            <a:endParaRPr lang="ko-KR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이동 버그 수정</a:t>
            </a:r>
            <a:endParaRPr lang="ko-KR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4357" y="2438003"/>
            <a:ext cx="3622882" cy="7560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73364" y="3383062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우선순위 2 — 게임 인터페이스</a:t>
            </a:r>
            <a:endParaRPr lang="ko-KR" sz="1850" dirty="0"/>
          </a:p>
        </p:txBody>
      </p:sp>
      <p:sp>
        <p:nvSpPr>
          <p:cNvPr id="8" name="Text 4"/>
          <p:cNvSpPr/>
          <p:nvPr/>
        </p:nvSpPr>
        <p:spPr>
          <a:xfrm>
            <a:off x="4473364" y="3791744"/>
            <a:ext cx="3244868" cy="103941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가방 / 인벤토리</a:t>
            </a:r>
            <a:endParaRPr lang="ko-KR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상호작용 표시</a:t>
            </a:r>
            <a:endParaRPr lang="ko-KR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간단한 게임 UI</a:t>
            </a:r>
            <a:endParaRPr lang="ko-KR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7239" y="2438003"/>
            <a:ext cx="3622882" cy="7560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96246" y="3383062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우선순위 3 — 게임 연출</a:t>
            </a:r>
            <a:endParaRPr lang="ko-KR" sz="1850" dirty="0"/>
          </a:p>
        </p:txBody>
      </p:sp>
      <p:sp>
        <p:nvSpPr>
          <p:cNvPr id="11" name="Text 6"/>
          <p:cNvSpPr/>
          <p:nvPr/>
        </p:nvSpPr>
        <p:spPr>
          <a:xfrm>
            <a:off x="8096246" y="3791744"/>
            <a:ext cx="3244868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조명 개선</a:t>
            </a:r>
            <a:endParaRPr lang="ko-KR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추격 이펙트</a:t>
            </a:r>
            <a:endParaRPr lang="ko-KR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사운드</a:t>
            </a:r>
            <a:endParaRPr lang="ko-KR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ko-KR" alt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공포 연출</a:t>
            </a:r>
            <a:endParaRPr lang="ko-KR" sz="1450" dirty="0"/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C44B73DB-8F94-46B1-A05C-156693FADCE4}"/>
              </a:ext>
            </a:extLst>
          </p:cNvPr>
          <p:cNvSpPr/>
          <p:nvPr/>
        </p:nvSpPr>
        <p:spPr>
          <a:xfrm>
            <a:off x="11043138" y="6198989"/>
            <a:ext cx="1148862" cy="659011"/>
          </a:xfrm>
          <a:prstGeom prst="roundRect">
            <a:avLst>
              <a:gd name="adj" fmla="val 9035"/>
            </a:avLst>
          </a:prstGeom>
          <a:solidFill>
            <a:schemeClr val="bg1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0884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ko-KR" alt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현재 개발 진행 상황</a:t>
            </a:r>
            <a:endParaRPr lang="ko-KR" sz="27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216521"/>
          <a:ext cx="10868746" cy="4477038"/>
        </p:xfrm>
        <a:graphic>
          <a:graphicData uri="http://schemas.openxmlformats.org/drawingml/2006/table">
            <a:tbl>
              <a:tblPr/>
              <a:tblGrid>
                <a:gridCol w="5434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343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17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구분</a:t>
                      </a:r>
                      <a:endParaRPr lang="en-US" sz="11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현재 상태</a:t>
                      </a:r>
                      <a:endParaRPr lang="en-US" sz="11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기본 맵 제작</a:t>
                      </a:r>
                      <a:endParaRPr lang="en-US" sz="11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wemoji Mozilla, Apple Color Emoji, Segoe UI Emoji, Segoe UI Symbol, Noto Color Emoji, EmojiOne Color, Android Emoji, sans-serif" pitchFamily="34" charset="0"/>
                          <a:ea typeface="Twemoji Mozilla, Apple Color Emoji, Segoe UI Emoji, Segoe UI Symbol, Noto Color Emoji, EmojiOne Color, Android Emoji, sans-serif" pitchFamily="34" charset="-122"/>
                          <a:cs typeface="Twemoji Mozilla, Apple Color Emoji, Segoe UI Emoji, Segoe UI Symbol, Noto Color Emoji, EmojiOne Color, Android Emoji, sans-serif" pitchFamily="34" charset="-120"/>
                        </a:rPr>
                        <a:t> 완료</a:t>
                      </a:r>
                      <a:endParaRPr lang="en-US" sz="110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환경 오브젝트 배치</a:t>
                      </a:r>
                      <a:endParaRPr lang="en-US" sz="11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wemoji Mozilla, Apple Color Emoji, Segoe UI Emoji, Segoe UI Symbol, Noto Color Emoji, EmojiOne Color, Android Emoji, sans-serif" pitchFamily="34" charset="0"/>
                          <a:ea typeface="Twemoji Mozilla, Apple Color Emoji, Segoe UI Emoji, Segoe UI Symbol, Noto Color Emoji, EmojiOne Color, Android Emoji, sans-serif" pitchFamily="34" charset="-122"/>
                          <a:cs typeface="Twemoji Mozilla, Apple Color Emoji, Segoe UI Emoji, Segoe UI Symbol, Noto Color Emoji, EmojiOne Color, Android Emoji, sans-serif" pitchFamily="34" charset="-120"/>
                        </a:rPr>
                        <a:t> 완료</a:t>
                      </a:r>
                      <a:endParaRPr lang="en-US" sz="110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플레이어 이동</a:t>
                      </a:r>
                      <a:endParaRPr lang="en-US" sz="11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wemoji Mozilla, Apple Color Emoji, Segoe UI Emoji, Segoe UI Symbol, Noto Color Emoji, EmojiOne Color, Android Emoji, sans-serif" pitchFamily="34" charset="0"/>
                          <a:ea typeface="Twemoji Mozilla, Apple Color Emoji, Segoe UI Emoji, Segoe UI Symbol, Noto Color Emoji, EmojiOne Color, Android Emoji, sans-serif" pitchFamily="34" charset="-122"/>
                          <a:cs typeface="Twemoji Mozilla, Apple Color Emoji, Segoe UI Emoji, Segoe UI Symbol, Noto Color Emoji, EmojiOne Color, Android Emoji, sans-serif" pitchFamily="34" charset="-120"/>
                        </a:rPr>
                        <a:t> 구현</a:t>
                      </a:r>
                      <a:endParaRPr lang="en-US" sz="110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가이드 캐릭터</a:t>
                      </a:r>
                      <a:endParaRPr lang="en-US" sz="11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wemoji Mozilla, Apple Color Emoji, Segoe UI Emoji, Segoe UI Symbol, Noto Color Emoji, EmojiOne Color, Android Emoji, sans-serif" pitchFamily="34" charset="0"/>
                          <a:ea typeface="Twemoji Mozilla, Apple Color Emoji, Segoe UI Emoji, Segoe UI Symbol, Noto Color Emoji, EmojiOne Color, Android Emoji, sans-serif" pitchFamily="34" charset="-122"/>
                          <a:cs typeface="Twemoji Mozilla, Apple Color Emoji, Segoe UI Emoji, Segoe UI Symbol, Noto Color Emoji, EmojiOne Color, Android Emoji, sans-serif" pitchFamily="34" charset="-120"/>
                        </a:rPr>
                        <a:t> 구현</a:t>
                      </a:r>
                      <a:endParaRPr lang="en-US" sz="110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4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캐릭터 전환</a:t>
                      </a:r>
                      <a:endParaRPr lang="en-US" sz="11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wemoji Mozilla, Apple Color Emoji, Segoe UI Emoji, Segoe UI Symbol, Noto Color Emoji, EmojiOne Color, Android Emoji, sans-serif" pitchFamily="34" charset="0"/>
                          <a:ea typeface="Twemoji Mozilla, Apple Color Emoji, Segoe UI Emoji, Segoe UI Symbol, Noto Color Emoji, EmojiOne Color, Android Emoji, sans-serif" pitchFamily="34" charset="-122"/>
                          <a:cs typeface="Twemoji Mozilla, Apple Color Emoji, Segoe UI Emoji, Segoe UI Symbol, Noto Color Emoji, EmojiOne Color, Android Emoji, sans-serif" pitchFamily="34" charset="-120"/>
                        </a:rPr>
                        <a:t> 구현</a:t>
                      </a:r>
                      <a:endParaRPr lang="en-US" sz="110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4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가이드 AI 이동</a:t>
                      </a:r>
                      <a:endParaRPr lang="en-US" sz="11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wemoji Mozilla, Apple Color Emoji, Segoe UI Emoji, Segoe UI Symbol, Noto Color Emoji, EmojiOne Color, Android Emoji, sans-serif" pitchFamily="34" charset="0"/>
                          <a:ea typeface="Twemoji Mozilla, Apple Color Emoji, Segoe UI Emoji, Segoe UI Symbol, Noto Color Emoji, EmojiOne Color, Android Emoji, sans-serif" pitchFamily="34" charset="-122"/>
                          <a:cs typeface="Twemoji Mozilla, Apple Color Emoji, Segoe UI Emoji, Segoe UI Symbol, Noto Color Emoji, EmojiOne Color, Android Emoji, sans-serif" pitchFamily="34" charset="-120"/>
                        </a:rPr>
                        <a:t> 구현 / 보완 중</a:t>
                      </a:r>
                      <a:endParaRPr lang="en-US" sz="110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4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오브젝트 상호작용</a:t>
                      </a:r>
                      <a:endParaRPr lang="en-US" sz="11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wemoji Mozilla, Apple Color Emoji, Segoe UI Emoji, Segoe UI Symbol, Noto Color Emoji, EmojiOne Color, Android Emoji, sans-serif" pitchFamily="34" charset="0"/>
                          <a:ea typeface="Twemoji Mozilla, Apple Color Emoji, Segoe UI Emoji, Segoe UI Symbol, Noto Color Emoji, EmojiOne Color, Android Emoji, sans-serif" pitchFamily="34" charset="-122"/>
                          <a:cs typeface="Twemoji Mozilla, Apple Color Emoji, Segoe UI Emoji, Segoe UI Symbol, Noto Color Emoji, EmojiOne Color, Android Emoji, sans-serif" pitchFamily="34" charset="-120"/>
                        </a:rPr>
                        <a:t> 구현 중</a:t>
                      </a:r>
                      <a:endParaRPr lang="en-US" sz="110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4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몬스터 추격</a:t>
                      </a:r>
                      <a:endParaRPr lang="en-US" sz="11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wemoji Mozilla, Apple Color Emoji, Segoe UI Emoji, Segoe UI Symbol, Noto Color Emoji, EmojiOne Color, Android Emoji, sans-serif" pitchFamily="34" charset="0"/>
                          <a:ea typeface="Twemoji Mozilla, Apple Color Emoji, Segoe UI Emoji, Segoe UI Symbol, Noto Color Emoji, EmojiOne Color, Android Emoji, sans-serif" pitchFamily="34" charset="-122"/>
                          <a:cs typeface="Twemoji Mozilla, Apple Color Emoji, Segoe UI Emoji, Segoe UI Symbol, Noto Color Emoji, EmojiOne Color, Android Emoji, sans-serif" pitchFamily="34" charset="-120"/>
                        </a:rPr>
                        <a:t> 기본 테스트 완료</a:t>
                      </a:r>
                      <a:endParaRPr lang="en-US" sz="110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4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몬스터 순찰</a:t>
                      </a:r>
                      <a:endParaRPr lang="en-US" sz="11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wemoji Mozilla, Apple Color Emoji, Segoe UI Emoji, Segoe UI Symbol, Noto Color Emoji, EmojiOne Color, Android Emoji, sans-serif" pitchFamily="34" charset="0"/>
                          <a:ea typeface="Twemoji Mozilla, Apple Color Emoji, Segoe UI Emoji, Segoe UI Symbol, Noto Color Emoji, EmojiOne Color, Android Emoji, sans-serif" pitchFamily="34" charset="-122"/>
                          <a:cs typeface="Twemoji Mozilla, Apple Color Emoji, Segoe UI Emoji, Segoe UI Symbol, Noto Color Emoji, EmojiOne Color, Android Emoji, sans-serif" pitchFamily="34" charset="-120"/>
                        </a:rPr>
                        <a:t> 미구현</a:t>
                      </a:r>
                      <a:endParaRPr lang="en-US" sz="110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4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가방 / UI</a:t>
                      </a:r>
                      <a:endParaRPr lang="en-US" sz="11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wemoji Mozilla, Apple Color Emoji, Segoe UI Emoji, Segoe UI Symbol, Noto Color Emoji, EmojiOne Color, Android Emoji, sans-serif" pitchFamily="34" charset="0"/>
                          <a:ea typeface="Twemoji Mozilla, Apple Color Emoji, Segoe UI Emoji, Segoe UI Symbol, Noto Color Emoji, EmojiOne Color, Android Emoji, sans-serif" pitchFamily="34" charset="-122"/>
                          <a:cs typeface="Twemoji Mozilla, Apple Color Emoji, Segoe UI Emoji, Segoe UI Symbol, Noto Color Emoji, EmojiOne Color, Android Emoji, sans-serif" pitchFamily="34" charset="-120"/>
                        </a:rPr>
                        <a:t> 미구현</a:t>
                      </a:r>
                      <a:endParaRPr lang="en-US" sz="110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4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퍼즐</a:t>
                      </a:r>
                      <a:endParaRPr lang="en-US" sz="11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wemoji Mozilla, Apple Color Emoji, Segoe UI Emoji, Segoe UI Symbol, Noto Color Emoji, EmojiOne Color, Android Emoji, sans-serif" pitchFamily="34" charset="0"/>
                          <a:ea typeface="Twemoji Mozilla, Apple Color Emoji, Segoe UI Emoji, Segoe UI Symbol, Noto Color Emoji, EmojiOne Color, Android Emoji, sans-serif" pitchFamily="34" charset="-122"/>
                          <a:cs typeface="Twemoji Mozilla, Apple Color Emoji, Segoe UI Emoji, Segoe UI Symbol, Noto Color Emoji, EmojiOne Color, Android Emoji, sans-serif" pitchFamily="34" charset="-120"/>
                        </a:rPr>
                        <a:t> 미구현</a:t>
                      </a:r>
                      <a:endParaRPr lang="en-US" sz="110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17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C3939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게임 이펙트</a:t>
                      </a:r>
                      <a:endParaRPr lang="en-US" sz="11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wemoji Mozilla, Apple Color Emoji, Segoe UI Emoji, Segoe UI Symbol, Noto Color Emoji, EmojiOne Color, Android Emoji, sans-serif" pitchFamily="34" charset="0"/>
                          <a:ea typeface="Twemoji Mozilla, Apple Color Emoji, Segoe UI Emoji, Segoe UI Symbol, Noto Color Emoji, EmojiOne Color, Android Emoji, sans-serif" pitchFamily="34" charset="-122"/>
                          <a:cs typeface="Twemoji Mozilla, Apple Color Emoji, Segoe UI Emoji, Segoe UI Symbol, Noto Color Emoji, EmojiOne Color, Android Emoji, sans-serif" pitchFamily="34" charset="-120"/>
                        </a:rPr>
                        <a:t> 미구현</a:t>
                      </a:r>
                      <a:endParaRPr lang="en-US" sz="110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41764" marR="141764" marT="6350" marB="6350" anchor="ctr">
                    <a:lnL w="12700" cap="flat" cmpd="sng" algn="ctr">
                      <a:solidFill>
                        <a:srgbClr val="FEFE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61475" y="5825927"/>
            <a:ext cx="10868745" cy="471190"/>
          </a:xfrm>
          <a:prstGeom prst="roundRect">
            <a:avLst>
              <a:gd name="adj" fmla="val 12636"/>
            </a:avLst>
          </a:prstGeom>
          <a:solidFill>
            <a:srgbClr val="E1E1E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156" y="5983288"/>
            <a:ext cx="177200" cy="14168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22037" y="5967611"/>
            <a:ext cx="1087608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ko-KR" altLang="en-US" sz="11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다음 목표 : 플레이 가능한 1개 스테이지 완성</a:t>
            </a:r>
            <a:endParaRPr lang="ko-KR" sz="110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9EB4DB32-79A1-4AD9-B496-B8CA586CE129}"/>
              </a:ext>
            </a:extLst>
          </p:cNvPr>
          <p:cNvSpPr/>
          <p:nvPr/>
        </p:nvSpPr>
        <p:spPr>
          <a:xfrm>
            <a:off x="11043138" y="6198989"/>
            <a:ext cx="1148862" cy="659011"/>
          </a:xfrm>
          <a:prstGeom prst="roundRect">
            <a:avLst>
              <a:gd name="adj" fmla="val 9035"/>
            </a:avLst>
          </a:prstGeom>
          <a:solidFill>
            <a:schemeClr val="bg1"/>
          </a:solidFill>
          <a:ln/>
        </p:spPr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5D1055C5-C0CE-4DF7-A8D7-78040B3A1E70}"/>
              </a:ext>
            </a:extLst>
          </p:cNvPr>
          <p:cNvSpPr/>
          <p:nvPr/>
        </p:nvSpPr>
        <p:spPr>
          <a:xfrm>
            <a:off x="11195538" y="6351389"/>
            <a:ext cx="1148862" cy="659011"/>
          </a:xfrm>
          <a:prstGeom prst="roundRect">
            <a:avLst>
              <a:gd name="adj" fmla="val 9035"/>
            </a:avLst>
          </a:prstGeom>
          <a:solidFill>
            <a:schemeClr val="bg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434</Words>
  <Application>Microsoft Office PowerPoint</Application>
  <PresentationFormat>와이드스크린</PresentationFormat>
  <Paragraphs>119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7" baseType="lpstr">
      <vt:lpstr>Roboto</vt:lpstr>
      <vt:lpstr>Raleway</vt:lpstr>
      <vt:lpstr>Calibri</vt:lpstr>
      <vt:lpstr>Twemoji Mozilla, Apple Color Emoji, Segoe UI Emoji, Segoe UI Symbol, Noto Color Emoji, EmojiOne Color, Android Emoji, sans-serif</vt:lpstr>
      <vt:lpstr>맑은 고딕</vt:lpstr>
      <vt:lpstr>Roboto Bold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soft41</dc:creator>
  <cp:lastModifiedBy>soft41</cp:lastModifiedBy>
  <cp:revision>6</cp:revision>
  <dcterms:created xsi:type="dcterms:W3CDTF">2026-08-31T18:11:49Z</dcterms:created>
  <dcterms:modified xsi:type="dcterms:W3CDTF">2026-09-01T00:40:53Z</dcterms:modified>
</cp:coreProperties>
</file>