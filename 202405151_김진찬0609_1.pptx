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6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75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947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36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74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7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12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65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96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6932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3617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655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0063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229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24842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82044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632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534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9714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37743D95-0255-4551-AB4F-5ECDFE30F02E}"/>
              </a:ext>
            </a:extLst>
          </p:cNvPr>
          <p:cNvSpPr/>
          <p:nvPr/>
        </p:nvSpPr>
        <p:spPr>
          <a:xfrm>
            <a:off x="496119" y="1065639"/>
            <a:ext cx="5757014" cy="800398"/>
          </a:xfrm>
          <a:prstGeom prst="roundRect">
            <a:avLst>
              <a:gd name="adj" fmla="val 6386"/>
            </a:avLst>
          </a:prstGeom>
          <a:solidFill>
            <a:srgbClr val="110745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40D156A-78B5-4DD6-BD56-64E58E38DEC0}"/>
              </a:ext>
            </a:extLst>
          </p:cNvPr>
          <p:cNvSpPr/>
          <p:nvPr/>
        </p:nvSpPr>
        <p:spPr>
          <a:xfrm>
            <a:off x="742608" y="1065639"/>
            <a:ext cx="1849479" cy="57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4000" b="1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캡스톤디자인</a:t>
            </a:r>
            <a:r>
              <a:rPr lang="ko-KR" altLang="en-US" sz="4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중간 보고</a:t>
            </a:r>
            <a:endParaRPr lang="ko-KR" sz="4000" b="1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FA336E1-22C4-4341-8DA4-4FF989F278B2}"/>
              </a:ext>
            </a:extLst>
          </p:cNvPr>
          <p:cNvSpPr/>
          <p:nvPr/>
        </p:nvSpPr>
        <p:spPr>
          <a:xfrm>
            <a:off x="496119" y="1957163"/>
            <a:ext cx="4191936" cy="2661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Unreal Engine 기반</a:t>
            </a:r>
            <a:endParaRPr lang="ko-KR" sz="2750" b="1" dirty="0"/>
          </a:p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3D</a:t>
            </a:r>
            <a:r>
              <a:rPr lang="ko-KR" altLang="en-US" sz="275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탈출 게임 개발</a:t>
            </a:r>
            <a:endParaRPr lang="ko-KR" sz="2750" b="1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E4DC414-9EE5-4CBE-BD61-13B789B78647}"/>
              </a:ext>
            </a:extLst>
          </p:cNvPr>
          <p:cNvSpPr/>
          <p:nvPr/>
        </p:nvSpPr>
        <p:spPr>
          <a:xfrm>
            <a:off x="581174" y="3288106"/>
            <a:ext cx="9641794" cy="1362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플레이어가 3D 실내 공간을 탐험하며 오브젝트와 상호작용하는 공포/탐험 게임을 목표로 합니다. Unity 기반 계획에서 </a:t>
            </a:r>
            <a:r>
              <a:rPr lang="ko-KR" altLang="en-US" sz="140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Unreal Engine</a:t>
            </a: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개발 환경을 전환하였으며, 현재는 완성 단계가 아닌 초기 구현 및 개발 기반 구축 단계입니다.</a:t>
            </a:r>
            <a:endParaRPr 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792491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2CED3B8-C9D5-49AD-9608-89CC44334D81}"/>
              </a:ext>
            </a:extLst>
          </p:cNvPr>
          <p:cNvSpPr/>
          <p:nvPr/>
        </p:nvSpPr>
        <p:spPr>
          <a:xfrm>
            <a:off x="496119" y="731862"/>
            <a:ext cx="100994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3185B76-ED1D-470C-80E3-8D68AADA9099}"/>
              </a:ext>
            </a:extLst>
          </p:cNvPr>
          <p:cNvSpPr/>
          <p:nvPr/>
        </p:nvSpPr>
        <p:spPr>
          <a:xfrm>
            <a:off x="585936" y="779115"/>
            <a:ext cx="128751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8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전환 및 학습</a:t>
            </a:r>
            <a:endParaRPr lang="ko-KR" sz="850" b="1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10C2449-BC01-4F59-81F0-B4E0961E0FF9}"/>
              </a:ext>
            </a:extLst>
          </p:cNvPr>
          <p:cNvSpPr/>
          <p:nvPr/>
        </p:nvSpPr>
        <p:spPr>
          <a:xfrm>
            <a:off x="496119" y="1064493"/>
            <a:ext cx="536689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Unreal Engine 전환 및 학습 방향</a:t>
            </a:r>
            <a:endParaRPr lang="ko-KR" sz="2750" b="1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AA41D28-A976-4DB1-9005-FBD77CD10982}"/>
              </a:ext>
            </a:extLst>
          </p:cNvPr>
          <p:cNvSpPr/>
          <p:nvPr/>
        </p:nvSpPr>
        <p:spPr>
          <a:xfrm>
            <a:off x="496119" y="172008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맵 제작과 조명 연출을 위해 Unreal </a:t>
            </a: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</a:t>
            </a:r>
            <a:r>
              <a:rPr lang="ko-KR" alt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도입하고, 개발 파이프라인 전반을 학습 중입니다.</a:t>
            </a:r>
            <a:endParaRPr lang="ko-KR" sz="1100" b="1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899CC70E-E6B1-432F-993F-64B7B2792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106364"/>
            <a:ext cx="4024015" cy="1081757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3D38A5B8-BF46-4CA6-8C50-3519860C67A0}"/>
              </a:ext>
            </a:extLst>
          </p:cNvPr>
          <p:cNvSpPr/>
          <p:nvPr/>
        </p:nvSpPr>
        <p:spPr>
          <a:xfrm>
            <a:off x="714077" y="22671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Modeling Mode</a:t>
            </a:r>
            <a:endParaRPr lang="en-US" sz="1600" b="1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4E09860-B9D3-434A-AD01-7A3056742843}"/>
              </a:ext>
            </a:extLst>
          </p:cNvPr>
          <p:cNvSpPr/>
          <p:nvPr/>
        </p:nvSpPr>
        <p:spPr>
          <a:xfrm>
            <a:off x="714077" y="2573685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벽, 바닥, 문, 통로 등 공간 구조물을 엔진 내에서 직접 제작하는 방식 학습</a:t>
            </a:r>
            <a:endParaRPr lang="ko-KR" sz="1400" b="1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8E7B9C2-B5F1-4D5B-8B01-F81C399EC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2106364"/>
            <a:ext cx="4024089" cy="1081757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7B52A8DD-5BED-4DCE-9D7C-302BE5118A26}"/>
              </a:ext>
            </a:extLst>
          </p:cNvPr>
          <p:cNvSpPr/>
          <p:nvPr/>
        </p:nvSpPr>
        <p:spPr>
          <a:xfrm>
            <a:off x="4860801" y="22671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Blueprint / C++</a:t>
            </a:r>
            <a:endParaRPr lang="en-US" sz="1600" b="1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6837C91-A95F-44D9-A7EA-2BBF98D1AC26}"/>
              </a:ext>
            </a:extLst>
          </p:cNvPr>
          <p:cNvSpPr/>
          <p:nvPr/>
        </p:nvSpPr>
        <p:spPr>
          <a:xfrm>
            <a:off x="4860801" y="2573685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게임 기능 구현을 위한 비주얼 스크립팅 및 C++ 연동 방향 검토</a:t>
            </a:r>
            <a:endParaRPr lang="ko-KR" sz="1400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8310A5CF-C6BB-46B2-9D09-2A5EECE49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3329880"/>
            <a:ext cx="4024015" cy="1081757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C051F009-097A-41C0-8323-54AF5B1A01CB}"/>
              </a:ext>
            </a:extLst>
          </p:cNvPr>
          <p:cNvSpPr/>
          <p:nvPr/>
        </p:nvSpPr>
        <p:spPr>
          <a:xfrm>
            <a:off x="714077" y="34906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Control Rig</a:t>
            </a:r>
            <a:endParaRPr lang="en-US" sz="1600" b="1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C566B51D-0B1C-47EC-825C-C220642901C3}"/>
              </a:ext>
            </a:extLst>
          </p:cNvPr>
          <p:cNvSpPr/>
          <p:nvPr/>
        </p:nvSpPr>
        <p:spPr>
          <a:xfrm>
            <a:off x="714077" y="3797201"/>
            <a:ext cx="36261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캐릭터 제어 구조와 </a:t>
            </a:r>
            <a:endParaRPr lang="en-US" altLang="ko-KR" sz="1400" b="1" dirty="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애니메이션 리깅 시스템 학습</a:t>
            </a:r>
            <a:endParaRPr lang="ko-KR" sz="1400" b="1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8F55ECF9-51C2-43C4-94AF-F50A68F9D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3329880"/>
            <a:ext cx="4024089" cy="1081757"/>
          </a:xfrm>
          <a:prstGeom prst="rect">
            <a:avLst/>
          </a:prstGeom>
        </p:spPr>
      </p:pic>
      <p:sp>
        <p:nvSpPr>
          <p:cNvPr id="18" name="Text 10">
            <a:extLst>
              <a:ext uri="{FF2B5EF4-FFF2-40B4-BE49-F238E27FC236}">
                <a16:creationId xmlns:a16="http://schemas.microsoft.com/office/drawing/2014/main" id="{2105956C-436B-4F7B-B7B0-86CD760976B1}"/>
              </a:ext>
            </a:extLst>
          </p:cNvPr>
          <p:cNvSpPr/>
          <p:nvPr/>
        </p:nvSpPr>
        <p:spPr>
          <a:xfrm>
            <a:off x="4860801" y="34906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노드 기반 작업 흐름</a:t>
            </a:r>
            <a:endParaRPr lang="ko-KR" sz="1600" b="1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27FFAB94-B97B-46E0-B57E-76FF5269CA0C}"/>
              </a:ext>
            </a:extLst>
          </p:cNvPr>
          <p:cNvSpPr/>
          <p:nvPr/>
        </p:nvSpPr>
        <p:spPr>
          <a:xfrm>
            <a:off x="4860801" y="3797201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Unreal Engine의 노드 그래프 구조를 활용한 </a:t>
            </a:r>
            <a:endParaRPr lang="en-US" altLang="ko-KR" sz="1400" b="1" dirty="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시스템 설계 방식 습득</a:t>
            </a:r>
            <a:endParaRPr 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16008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F49AB7D-B797-4DFF-9FBE-4CCD73E53BF9}"/>
              </a:ext>
            </a:extLst>
          </p:cNvPr>
          <p:cNvSpPr/>
          <p:nvPr/>
        </p:nvSpPr>
        <p:spPr>
          <a:xfrm>
            <a:off x="496119" y="1170533"/>
            <a:ext cx="874663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B99C057-C42E-4AE9-9E82-1C36119AAA7B}"/>
              </a:ext>
            </a:extLst>
          </p:cNvPr>
          <p:cNvSpPr/>
          <p:nvPr/>
        </p:nvSpPr>
        <p:spPr>
          <a:xfrm>
            <a:off x="585936" y="1217786"/>
            <a:ext cx="115222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에셋 전략</a:t>
            </a:r>
            <a:endParaRPr lang="ko-KR" sz="8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19E2A83-DC1E-412F-9AA9-C1070A683AD7}"/>
              </a:ext>
            </a:extLst>
          </p:cNvPr>
          <p:cNvSpPr/>
          <p:nvPr/>
        </p:nvSpPr>
        <p:spPr>
          <a:xfrm>
            <a:off x="496119" y="150316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에셋 수집 및 제작 방향</a:t>
            </a:r>
            <a:endParaRPr lang="ko-KR" sz="2750" b="1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E6D8DB7-02CC-4F75-B945-B19ED146BCC8}"/>
              </a:ext>
            </a:extLst>
          </p:cNvPr>
          <p:cNvSpPr/>
          <p:nvPr/>
        </p:nvSpPr>
        <p:spPr>
          <a:xfrm>
            <a:off x="496119" y="2286298"/>
            <a:ext cx="67071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6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Unreal Engine의 </a:t>
            </a:r>
            <a:r>
              <a:rPr lang="ko-KR" altLang="en-US" sz="160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</a:t>
            </a:r>
            <a:r>
              <a:rPr lang="ko-KR" altLang="en-US" sz="16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활용하여 외부 에셋을 수집하고, 직접 제작과 병행하는 하이브리드 방식으로 개발 시간을 단축합니다.</a:t>
            </a:r>
            <a:endParaRPr lang="ko-KR" sz="1600" b="1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9DF9B5D-89A2-4426-A4FE-8DA18373BD84}"/>
              </a:ext>
            </a:extLst>
          </p:cNvPr>
          <p:cNvSpPr/>
          <p:nvPr/>
        </p:nvSpPr>
        <p:spPr>
          <a:xfrm>
            <a:off x="496119" y="3247998"/>
            <a:ext cx="67071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ko-KR" altLang="en-US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실내 맵, 가구, 소품, 분위기 연출용 에셋 검토 중</a:t>
            </a:r>
            <a:endParaRPr lang="ko-KR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ko-KR" altLang="en-US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배경 소품은 Fab 에셋으로 빠르게 배치</a:t>
            </a:r>
            <a:endParaRPr lang="ko-KR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ko-KR" altLang="en-US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오브젝트는 직접 제작하여 게임 정체성 확보</a:t>
            </a:r>
            <a:endParaRPr lang="ko-KR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ko-KR" altLang="en-US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에셋 통합 및 스타일 통일 작업은 블록아웃 완료 후 진행 예정</a:t>
            </a:r>
            <a:endParaRPr lang="ko-KR" b="1" dirty="0"/>
          </a:p>
        </p:txBody>
      </p:sp>
    </p:spTree>
    <p:extLst>
      <p:ext uri="{BB962C8B-B14F-4D97-AF65-F5344CB8AC3E}">
        <p14:creationId xmlns:p14="http://schemas.microsoft.com/office/powerpoint/2010/main" val="204658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E0D74A45-FDF2-42A0-A53F-B00ADD238EBF}"/>
              </a:ext>
            </a:extLst>
          </p:cNvPr>
          <p:cNvSpPr/>
          <p:nvPr/>
        </p:nvSpPr>
        <p:spPr>
          <a:xfrm>
            <a:off x="377038" y="195344"/>
            <a:ext cx="1394967" cy="378286"/>
          </a:xfrm>
          <a:prstGeom prst="roundRect">
            <a:avLst>
              <a:gd name="adj" fmla="val 6956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65FE14F-FB7C-4BCF-9834-2A5BC1BD7CF4}"/>
              </a:ext>
            </a:extLst>
          </p:cNvPr>
          <p:cNvSpPr/>
          <p:nvPr/>
        </p:nvSpPr>
        <p:spPr>
          <a:xfrm>
            <a:off x="457927" y="297887"/>
            <a:ext cx="860673" cy="7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현재 구현</a:t>
            </a:r>
            <a:endParaRPr lang="ko-KR" sz="1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28FD789-6073-48E9-8667-FBD69375759C}"/>
              </a:ext>
            </a:extLst>
          </p:cNvPr>
          <p:cNvSpPr/>
          <p:nvPr/>
        </p:nvSpPr>
        <p:spPr>
          <a:xfrm>
            <a:off x="370245" y="912821"/>
            <a:ext cx="2506117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0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현재 구현 상황</a:t>
            </a:r>
            <a:endParaRPr lang="ko-KR" sz="2400" b="1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8F98E7E-FD37-4710-B28F-18E73E8A2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14" y="3326049"/>
            <a:ext cx="4210907" cy="2406043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615A9ABA-14D2-4CBC-B492-C8659AFEBDB2}"/>
              </a:ext>
            </a:extLst>
          </p:cNvPr>
          <p:cNvSpPr/>
          <p:nvPr/>
        </p:nvSpPr>
        <p:spPr>
          <a:xfrm>
            <a:off x="3009568" y="1391309"/>
            <a:ext cx="14816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0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실내 맵 블록아웃</a:t>
            </a:r>
            <a:endParaRPr lang="ko-KR" sz="1400" b="1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AC5F6AE-0502-4426-9307-77EE932DB3C8}"/>
              </a:ext>
            </a:extLst>
          </p:cNvPr>
          <p:cNvSpPr/>
          <p:nvPr/>
        </p:nvSpPr>
        <p:spPr>
          <a:xfrm>
            <a:off x="3127403" y="2029835"/>
            <a:ext cx="2727647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벽, 바닥, 문, 통로를 배치하여 기본 공간 구조를 구성 중입니다. 위에서 본 구조로 방 배치와 이동 동선을 확인하고 있습니다.</a:t>
            </a:r>
            <a:endParaRPr lang="ko-KR" sz="1400" b="1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AECB174-9851-4687-9740-3B276BDC4E3E}"/>
              </a:ext>
            </a:extLst>
          </p:cNvPr>
          <p:cNvSpPr/>
          <p:nvPr/>
        </p:nvSpPr>
        <p:spPr>
          <a:xfrm>
            <a:off x="377038" y="1395817"/>
            <a:ext cx="14816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0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캐릭터 현황</a:t>
            </a:r>
            <a:endParaRPr lang="ko-KR" sz="1400" b="1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B473006-C980-41F7-A25D-13E2257D846B}"/>
              </a:ext>
            </a:extLst>
          </p:cNvPr>
          <p:cNvSpPr/>
          <p:nvPr/>
        </p:nvSpPr>
        <p:spPr>
          <a:xfrm>
            <a:off x="377038" y="1750821"/>
            <a:ext cx="2727647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캐릭터를 한 번 제작했으나 최종 퀄리티가 부족하다고 판단하여 </a:t>
            </a:r>
            <a:r>
              <a:rPr lang="ko-KR" altLang="en-US" sz="140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재제작을 결정</a:t>
            </a: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했습니다. 현재는 Unreal Engine 기본 캐릭터로 맵 이동 및 기능 테스트를 진행하고 있습니다.</a:t>
            </a:r>
            <a:endParaRPr lang="ko-KR" sz="1400" b="1" dirty="0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891D1BA4-8CB6-4858-980B-F6F6A2B65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017" y="467456"/>
            <a:ext cx="4210907" cy="1650358"/>
          </a:xfrm>
          <a:prstGeom prst="rect">
            <a:avLst/>
          </a:prstGeom>
        </p:spPr>
      </p:pic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04880A67-FD0D-4BCA-A642-B6F91FF16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405" y="4529071"/>
            <a:ext cx="4219907" cy="2163492"/>
          </a:xfrm>
          <a:prstGeom prst="rect">
            <a:avLst/>
          </a:prstGeom>
        </p:spPr>
      </p:pic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429F63B7-BBF1-4094-9BF4-6D923E505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8767" y="2355598"/>
            <a:ext cx="4272157" cy="2011436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3B6098EE-EED7-4270-8A54-63AFD52F7DA5}"/>
              </a:ext>
            </a:extLst>
          </p:cNvPr>
          <p:cNvSpPr/>
          <p:nvPr/>
        </p:nvSpPr>
        <p:spPr>
          <a:xfrm>
            <a:off x="4210982" y="5197346"/>
            <a:ext cx="3184847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392372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48BEA84-2E04-4933-A267-4232D0AEA1FC}"/>
              </a:ext>
            </a:extLst>
          </p:cNvPr>
          <p:cNvSpPr/>
          <p:nvPr/>
        </p:nvSpPr>
        <p:spPr>
          <a:xfrm>
            <a:off x="465162" y="401464"/>
            <a:ext cx="818034" cy="253901"/>
          </a:xfrm>
          <a:prstGeom prst="roundRect">
            <a:avLst>
              <a:gd name="adj" fmla="val 6282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473FA27-E595-457E-81F8-AC53AC33D854}"/>
              </a:ext>
            </a:extLst>
          </p:cNvPr>
          <p:cNvSpPr/>
          <p:nvPr/>
        </p:nvSpPr>
        <p:spPr>
          <a:xfrm>
            <a:off x="549622" y="446038"/>
            <a:ext cx="1106314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ko-KR" altLang="en-US" sz="8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향후 계획</a:t>
            </a:r>
            <a:endParaRPr lang="ko-KR" sz="8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52B1351-44C2-4118-A6BA-F86822413E42}"/>
              </a:ext>
            </a:extLst>
          </p:cNvPr>
          <p:cNvSpPr/>
          <p:nvPr/>
        </p:nvSpPr>
        <p:spPr>
          <a:xfrm>
            <a:off x="465162" y="705148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향후 개발 계획</a:t>
            </a:r>
            <a:endParaRPr lang="ko-KR" sz="2600" b="1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BDEA541-090E-4CEC-8332-641C01FCB842}"/>
              </a:ext>
            </a:extLst>
          </p:cNvPr>
          <p:cNvSpPr/>
          <p:nvPr/>
        </p:nvSpPr>
        <p:spPr>
          <a:xfrm>
            <a:off x="465162" y="2533278"/>
            <a:ext cx="8213675" cy="14288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025FF6D3-A8A8-4C1F-9BF2-F4577B0E90D0}"/>
              </a:ext>
            </a:extLst>
          </p:cNvPr>
          <p:cNvSpPr/>
          <p:nvPr/>
        </p:nvSpPr>
        <p:spPr>
          <a:xfrm>
            <a:off x="1774999" y="2134567"/>
            <a:ext cx="14288" cy="398711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0FC813C-C65C-49E7-BDCD-719FA108C622}"/>
              </a:ext>
            </a:extLst>
          </p:cNvPr>
          <p:cNvSpPr/>
          <p:nvPr/>
        </p:nvSpPr>
        <p:spPr>
          <a:xfrm>
            <a:off x="1632645" y="238378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EE89BA7-DD84-4F09-8466-96DD47715A8F}"/>
              </a:ext>
            </a:extLst>
          </p:cNvPr>
          <p:cNvSpPr/>
          <p:nvPr/>
        </p:nvSpPr>
        <p:spPr>
          <a:xfrm>
            <a:off x="1682465" y="240870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5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3C4FFBF-C202-4474-B248-AC1E4EB5FBCC}"/>
              </a:ext>
            </a:extLst>
          </p:cNvPr>
          <p:cNvSpPr/>
          <p:nvPr/>
        </p:nvSpPr>
        <p:spPr>
          <a:xfrm>
            <a:off x="951533" y="130730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맵 완성</a:t>
            </a:r>
            <a:endParaRPr lang="ko-KR" sz="1300" b="1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51282C2-2887-435E-9129-5D3FB3DF8C2B}"/>
              </a:ext>
            </a:extLst>
          </p:cNvPr>
          <p:cNvSpPr/>
          <p:nvPr/>
        </p:nvSpPr>
        <p:spPr>
          <a:xfrm>
            <a:off x="598066" y="1589708"/>
            <a:ext cx="236822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ko-KR" altLang="en-US" sz="1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블록아웃 구조 보완 후 조명 및 텍스처 적용</a:t>
            </a:r>
            <a:endParaRPr lang="ko-KR" sz="1000" b="1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D53977D5-0AF4-435D-9054-60F19F71B605}"/>
              </a:ext>
            </a:extLst>
          </p:cNvPr>
          <p:cNvSpPr/>
          <p:nvPr/>
        </p:nvSpPr>
        <p:spPr>
          <a:xfrm>
            <a:off x="3169890" y="2533278"/>
            <a:ext cx="14288" cy="398711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636AB3B-3081-40F8-8D4F-74E958878D9D}"/>
              </a:ext>
            </a:extLst>
          </p:cNvPr>
          <p:cNvSpPr/>
          <p:nvPr/>
        </p:nvSpPr>
        <p:spPr>
          <a:xfrm>
            <a:off x="3027536" y="238378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32C5C5C-4AF9-45C9-BB95-6183F91C7699}"/>
              </a:ext>
            </a:extLst>
          </p:cNvPr>
          <p:cNvSpPr/>
          <p:nvPr/>
        </p:nvSpPr>
        <p:spPr>
          <a:xfrm>
            <a:off x="3077356" y="240870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55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AC0D3F4-7BB0-40F7-9D5E-B5AAB1DEFBF2}"/>
              </a:ext>
            </a:extLst>
          </p:cNvPr>
          <p:cNvSpPr/>
          <p:nvPr/>
        </p:nvSpPr>
        <p:spPr>
          <a:xfrm>
            <a:off x="2346424" y="306489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소품 배치</a:t>
            </a:r>
            <a:endParaRPr lang="ko-KR" sz="1300" b="1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32C403D-7B5F-47CD-A655-5171B22AC2F5}"/>
              </a:ext>
            </a:extLst>
          </p:cNvPr>
          <p:cNvSpPr/>
          <p:nvPr/>
        </p:nvSpPr>
        <p:spPr>
          <a:xfrm>
            <a:off x="1992957" y="3347293"/>
            <a:ext cx="236822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ko-KR" altLang="en-US" sz="1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 에셋과 직접 제작 에셋을 활용한 공간 연출</a:t>
            </a:r>
            <a:endParaRPr lang="ko-KR" sz="1000" b="1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10EF1100-41CD-4A90-BF73-D2BC2E46E6C7}"/>
              </a:ext>
            </a:extLst>
          </p:cNvPr>
          <p:cNvSpPr/>
          <p:nvPr/>
        </p:nvSpPr>
        <p:spPr>
          <a:xfrm>
            <a:off x="4564782" y="2134567"/>
            <a:ext cx="14288" cy="398711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9C0580EC-C8B9-4275-8A01-8F47536A6B96}"/>
              </a:ext>
            </a:extLst>
          </p:cNvPr>
          <p:cNvSpPr/>
          <p:nvPr/>
        </p:nvSpPr>
        <p:spPr>
          <a:xfrm>
            <a:off x="4422428" y="238378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72135CE9-DA4B-4124-9B2D-7A3704447BB3}"/>
              </a:ext>
            </a:extLst>
          </p:cNvPr>
          <p:cNvSpPr/>
          <p:nvPr/>
        </p:nvSpPr>
        <p:spPr>
          <a:xfrm>
            <a:off x="4472248" y="240870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5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93F727B1-0245-4FE3-AC51-12A00EB1FB20}"/>
              </a:ext>
            </a:extLst>
          </p:cNvPr>
          <p:cNvSpPr/>
          <p:nvPr/>
        </p:nvSpPr>
        <p:spPr>
          <a:xfrm>
            <a:off x="3741316" y="130730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상호작용 구현</a:t>
            </a:r>
            <a:endParaRPr lang="ko-KR" sz="1300" b="1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0E077170-9E6E-47CE-9A62-4009EB22E485}"/>
              </a:ext>
            </a:extLst>
          </p:cNvPr>
          <p:cNvSpPr/>
          <p:nvPr/>
        </p:nvSpPr>
        <p:spPr>
          <a:xfrm>
            <a:off x="3387849" y="1589708"/>
            <a:ext cx="236822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ko-KR" altLang="en-US" sz="1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문, 아이템, 상호작용 오브젝트 기능 추가</a:t>
            </a:r>
            <a:endParaRPr lang="ko-KR" sz="1000" b="1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7F2D37A7-D125-4D3A-8D52-452AF93A70BA}"/>
              </a:ext>
            </a:extLst>
          </p:cNvPr>
          <p:cNvSpPr/>
          <p:nvPr/>
        </p:nvSpPr>
        <p:spPr>
          <a:xfrm>
            <a:off x="5959673" y="2533278"/>
            <a:ext cx="14288" cy="398711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76951A96-26F0-4E91-BEFF-A2E95835B866}"/>
              </a:ext>
            </a:extLst>
          </p:cNvPr>
          <p:cNvSpPr/>
          <p:nvPr/>
        </p:nvSpPr>
        <p:spPr>
          <a:xfrm>
            <a:off x="5817319" y="238378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8621E871-D18A-4CE8-A290-02D2FE4EE825}"/>
              </a:ext>
            </a:extLst>
          </p:cNvPr>
          <p:cNvSpPr/>
          <p:nvPr/>
        </p:nvSpPr>
        <p:spPr>
          <a:xfrm>
            <a:off x="5867140" y="240870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55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8BE21F7B-7A5A-4E5A-84E4-49A55A4D4B7A}"/>
              </a:ext>
            </a:extLst>
          </p:cNvPr>
          <p:cNvSpPr/>
          <p:nvPr/>
        </p:nvSpPr>
        <p:spPr>
          <a:xfrm>
            <a:off x="5136207" y="306489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플레이어 기능</a:t>
            </a:r>
            <a:endParaRPr lang="ko-KR" sz="1300" b="1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10C85D9A-0385-4F9C-B761-E1506463B2A5}"/>
              </a:ext>
            </a:extLst>
          </p:cNvPr>
          <p:cNvSpPr/>
          <p:nvPr/>
        </p:nvSpPr>
        <p:spPr>
          <a:xfrm>
            <a:off x="4782741" y="3347293"/>
            <a:ext cx="236822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ko-KR" altLang="en-US" sz="1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이동, 달리기, 상호작용 시스템 테스트 및 완성</a:t>
            </a:r>
            <a:endParaRPr lang="ko-KR" sz="1000" b="1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00E51010-E465-42BF-8482-EF95A2A1BC6F}"/>
              </a:ext>
            </a:extLst>
          </p:cNvPr>
          <p:cNvSpPr/>
          <p:nvPr/>
        </p:nvSpPr>
        <p:spPr>
          <a:xfrm>
            <a:off x="7354565" y="2134567"/>
            <a:ext cx="14288" cy="398711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FA051C7D-C846-412B-B9BE-4CB54D824589}"/>
              </a:ext>
            </a:extLst>
          </p:cNvPr>
          <p:cNvSpPr/>
          <p:nvPr/>
        </p:nvSpPr>
        <p:spPr>
          <a:xfrm>
            <a:off x="7212211" y="238378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239ED53-C232-43E7-BE04-D092D63E2BD6}"/>
              </a:ext>
            </a:extLst>
          </p:cNvPr>
          <p:cNvSpPr/>
          <p:nvPr/>
        </p:nvSpPr>
        <p:spPr>
          <a:xfrm>
            <a:off x="7262031" y="240870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155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884023D0-E96B-4235-B3F1-76FC6961F874}"/>
              </a:ext>
            </a:extLst>
          </p:cNvPr>
          <p:cNvSpPr/>
          <p:nvPr/>
        </p:nvSpPr>
        <p:spPr>
          <a:xfrm>
            <a:off x="6531099" y="130730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디버깅</a:t>
            </a:r>
            <a:endParaRPr lang="ko-KR" sz="1300" b="1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59096BB3-CA10-4B9E-94D7-55DD78109100}"/>
              </a:ext>
            </a:extLst>
          </p:cNvPr>
          <p:cNvSpPr/>
          <p:nvPr/>
        </p:nvSpPr>
        <p:spPr>
          <a:xfrm>
            <a:off x="6177632" y="1589708"/>
            <a:ext cx="236822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ko-KR" altLang="en-US" sz="1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재제작 캐릭터, 몬스터 AI, 애니메이션, 저장 시스템 적용</a:t>
            </a:r>
            <a:endParaRPr lang="ko-KR" sz="1000" b="1" dirty="0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9FAEA436-CFF9-4AE4-B413-B0ECDEE0336F}"/>
              </a:ext>
            </a:extLst>
          </p:cNvPr>
          <p:cNvSpPr/>
          <p:nvPr/>
        </p:nvSpPr>
        <p:spPr>
          <a:xfrm>
            <a:off x="465162" y="3899371"/>
            <a:ext cx="8213675" cy="702469"/>
          </a:xfrm>
          <a:prstGeom prst="roundRect">
            <a:avLst>
              <a:gd name="adj" fmla="val 2838"/>
            </a:avLst>
          </a:prstGeom>
          <a:solidFill>
            <a:srgbClr val="110745"/>
          </a:solidFill>
          <a:ln/>
        </p:spPr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725670FF-6263-494F-9C5F-D6EB8A80C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66" y="4087267"/>
            <a:ext cx="166092" cy="132904"/>
          </a:xfrm>
          <a:prstGeom prst="rect">
            <a:avLst/>
          </a:prstGeom>
        </p:spPr>
      </p:pic>
      <p:sp>
        <p:nvSpPr>
          <p:cNvPr id="35" name="Text 30">
            <a:extLst>
              <a:ext uri="{FF2B5EF4-FFF2-40B4-BE49-F238E27FC236}">
                <a16:creationId xmlns:a16="http://schemas.microsoft.com/office/drawing/2014/main" id="{F8E62D94-6E74-42DB-88B8-8876873E6760}"/>
              </a:ext>
            </a:extLst>
          </p:cNvPr>
          <p:cNvSpPr/>
          <p:nvPr/>
        </p:nvSpPr>
        <p:spPr>
          <a:xfrm>
            <a:off x="897062" y="4044628"/>
            <a:ext cx="764887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아직 완성된 결과물을 보여주는 단계는 아니지만, Unreal Engine 개발 환경과 제작 흐름을 학습하며 프로젝트 구현을 위한 기반을 구축하고 있습니다.</a:t>
            </a:r>
            <a:endParaRPr lang="ko-KR" sz="1000" b="1" dirty="0"/>
          </a:p>
        </p:txBody>
      </p:sp>
    </p:spTree>
    <p:extLst>
      <p:ext uri="{BB962C8B-B14F-4D97-AF65-F5344CB8AC3E}">
        <p14:creationId xmlns:p14="http://schemas.microsoft.com/office/powerpoint/2010/main" val="4274561837"/>
      </p:ext>
    </p:extLst>
  </p:cSld>
  <p:clrMapOvr>
    <a:masterClrMapping/>
  </p:clrMapOvr>
</p:sld>
</file>

<file path=ppt/theme/theme1.xml><?xml version="1.0" encoding="utf-8"?>
<a:theme xmlns:a="http://schemas.openxmlformats.org/drawingml/2006/main" name="슬라이스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슬라이스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슬라이스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137</TotalTime>
  <Words>343</Words>
  <Application>Microsoft Office PowerPoint</Application>
  <PresentationFormat>와이드스크린</PresentationFormat>
  <Paragraphs>48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DM Sans Medium</vt:lpstr>
      <vt:lpstr>Inter</vt:lpstr>
      <vt:lpstr>Century Gothic</vt:lpstr>
      <vt:lpstr>Wingdings 3</vt:lpstr>
      <vt:lpstr>슬라이스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soft56</dc:creator>
  <cp:lastModifiedBy>soft56</cp:lastModifiedBy>
  <cp:revision>6</cp:revision>
  <dcterms:created xsi:type="dcterms:W3CDTF">2026-06-09T03:30:28Z</dcterms:created>
  <dcterms:modified xsi:type="dcterms:W3CDTF">2026-06-09T05:58:11Z</dcterms:modified>
</cp:coreProperties>
</file>